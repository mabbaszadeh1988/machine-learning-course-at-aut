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D271-B64D-1306-68AB-F4E8BD03D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3E256-C3A2-5054-297B-EAE7561F5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C0150-2204-C202-9686-07543A90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EAEC6-AE2D-7605-0405-78D49FA7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5AF0E-F8C6-A66C-5DC2-9526BCD4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16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B8D56-FCF0-EFDA-159D-521D2EF4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81C71-F830-40BB-7E38-D46102511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ECF0C-8DC4-6ED0-B080-E03455A2E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D56DF-9145-D9C9-F4A2-195F78DA2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79426-8CE7-FBBB-8027-2C242F1B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7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B200-5345-BEF5-7131-788CBB5B7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8CB56-D950-C39B-D41F-7302A555A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7046C-F8A2-1DA8-2387-FCD4D88B8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9B987-174C-304F-2380-965C2BE4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A5850-1916-BB44-CB90-964DF463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3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4975-A7B4-7303-E23D-E30618820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4463-14BB-BCBD-56FA-FEBD7C2AA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F0C9E-101F-F117-E49E-6546CA5D9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19400-2D96-36B9-52E3-B2F8967B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D32B5-6AF8-5548-8F81-25606EB1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0D608-9BEC-456F-DB78-1F3FCCE0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4868-2FD1-76C5-78E1-9C820BEE8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F298D-C43E-37D2-FD8A-40A62B108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A9A8C-65DB-F955-A9BC-33CB1FE86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37AF44-AA84-746E-8254-ED1A1871B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C17DE-F684-3F5D-461D-E7F7C7DCA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F4C94-4D77-BDA5-3031-873A9BF43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CA5ED-7F34-BA32-27A8-60F1B24B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E90F9C-6A33-F39B-7D12-D05E96EB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9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7C28-DCAB-61EE-62AE-7032B79B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31F7C-0082-C0CE-7104-1A1820C3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334064-2F28-C47D-A463-3D9B7F6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942BA-C5EB-991C-5D72-299E5979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2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2D734-6F8C-02EB-6308-74154E6F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E06C2-910C-204C-895D-AC9158F5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33C9B-D4B9-9463-4774-4C6C69D1E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64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F910-4793-E6EC-D75F-DE1CE151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E622-838A-600E-797A-9AD55B6A9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256B-6879-A92A-2AB2-83BFBAAE8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611CE-7768-8E79-D2F6-8686762E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8B698-7119-B5EF-8E3C-7F2E437A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B95A3-7331-DBDD-8390-EBEF5A9B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3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3BD6-5A1A-770D-5A0A-A43FCD628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4F6BD-4652-C6D4-B14A-CE4EAFB5BC1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FA118-1724-0895-8873-80C51FCAD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5CD3E-C12D-CE2D-8D01-72C74AAF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2ADEB-1EB6-CADD-1839-DE0A8980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9D54C-D74A-65EA-F1AE-16F74393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88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63F0-C07B-E78E-6F1D-62BF3227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87AA0-81B2-7176-6162-21033CA4C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27E4C-6A61-8E77-4744-8B2690E4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9CD0-64EA-CE29-C0B5-60C91075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B8D0B-21BC-290F-A282-B441AF89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5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E0514F-8DD1-A969-494F-9B5507F35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7DD64-DF61-E3A7-98BC-DDED86CA2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E999E-82D6-2675-69AB-076CF868F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9B034-2DCE-F2A1-DBDA-9096E07E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D4FBC-B011-61EF-2D4C-34BEB253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1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382F89-4040-0E42-4C29-3ED984C40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D7288-1396-8E4C-681E-18777EC35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62150-ECDC-85BD-2D04-789EE6D52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D7F8-15A4-4762-9B81-FA1740BA710B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95DB0-CA7E-B679-CACF-C21F6894F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74D77-4316-F3E3-AFD9-18A830F25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AEFCE-2D55-46B4-8BEE-7CBB2E2D3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6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faradars.org/outliers/" TargetMode="External"/><Relationship Id="rId2" Type="http://schemas.openxmlformats.org/officeDocument/2006/relationships/hyperlink" Target="https://blog.faradars.org/%d9%85%d8%af%db%8c%d8%b1%db%8c%d8%aa-%d8%af%d8%a7%d8%af%d9%87-%da%af%d9%85%d8%b4%d8%af%d9%87-%d8%a8%d8%a7-%d9%be%d8%a7%db%8c%d8%aa%d9%88%d9%86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faradars.org/%d8%af%db%8c%d8%aa%d8%a7%d8%b3%d8%aa-%da%86%db%8c%d8%b3%d8%aa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faradars.org/overfitting-%d8%af%d8%b1-%db%8c%d8%a7%d8%af%da%af%db%8c%d8%b1%db%8c-%d9%85%d8%a7%d8%b4%db%8c%d9%86/" TargetMode="External"/><Relationship Id="rId2" Type="http://schemas.openxmlformats.org/officeDocument/2006/relationships/hyperlink" Target="https://blog.faradars.org/%d9%86%d8%b1%d9%85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faradars.org/overfitting-underfitting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1F4C04-EF67-EEAC-2A92-FA84E3E1D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B394F-D32F-DFB7-263D-EA9F3B942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66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C13644-8D12-4062-F2FF-7486E5AC7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7212A2-65F6-208F-0AD8-64763FCE0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34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BB65C-FF2F-7679-BCE0-6EF2ECB8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rtl="1"/>
            <a:r>
              <a:rPr lang="en-US" b="1" dirty="0">
                <a:cs typeface="B Titr" panose="00000700000000000000" pitchFamily="2" charset="-78"/>
              </a:rPr>
              <a:t>پاکسازی </a:t>
            </a:r>
            <a:r>
              <a:rPr lang="en-US" b="1" dirty="0" err="1">
                <a:cs typeface="B Titr" panose="00000700000000000000" pitchFamily="2" charset="-78"/>
              </a:rPr>
              <a:t>داده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چیست</a:t>
            </a:r>
            <a:r>
              <a:rPr lang="en-US" b="1" dirty="0">
                <a:cs typeface="B Titr" panose="00000700000000000000" pitchFamily="2" charset="-78"/>
              </a:rPr>
              <a:t>؟</a:t>
            </a:r>
            <a:br>
              <a:rPr lang="en-US" b="1" dirty="0">
                <a:cs typeface="B Titr" panose="00000700000000000000" pitchFamily="2" charset="-78"/>
              </a:rPr>
            </a:br>
            <a:br>
              <a:rPr lang="en-US" dirty="0">
                <a:cs typeface="B Titr" panose="00000700000000000000" pitchFamily="2" charset="-78"/>
              </a:rPr>
            </a:b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E2434-BDB6-6704-A26F-12F86BC56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>
                <a:cs typeface="B Titr" panose="00000700000000000000" pitchFamily="2" charset="-78"/>
              </a:rPr>
              <a:t>در </a:t>
            </a:r>
            <a:r>
              <a:rPr lang="en-US" dirty="0" err="1">
                <a:cs typeface="B Titr" panose="00000700000000000000" pitchFamily="2" charset="-78"/>
              </a:rPr>
              <a:t>اصطلاح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داده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کاوی</a:t>
            </a:r>
            <a:r>
              <a:rPr lang="en-US" dirty="0">
                <a:cs typeface="B Titr" panose="00000700000000000000" pitchFamily="2" charset="-78"/>
              </a:rPr>
              <a:t>، </a:t>
            </a:r>
            <a:r>
              <a:rPr lang="en-US" dirty="0" err="1">
                <a:cs typeface="B Titr" panose="00000700000000000000" pitchFamily="2" charset="-78"/>
              </a:rPr>
              <a:t>تمیزسازی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یا</a:t>
            </a:r>
            <a:r>
              <a:rPr lang="en-US" dirty="0">
                <a:cs typeface="B Titr" panose="00000700000000000000" pitchFamily="2" charset="-78"/>
              </a:rPr>
              <a:t> </a:t>
            </a:r>
            <a:r>
              <a:rPr lang="en-US" b="1" dirty="0">
                <a:cs typeface="B Titr" panose="00000700000000000000" pitchFamily="2" charset="-78"/>
              </a:rPr>
              <a:t>«پاکسازی </a:t>
            </a:r>
            <a:r>
              <a:rPr lang="en-US" b="1" dirty="0" err="1">
                <a:cs typeface="B Titr" panose="00000700000000000000" pitchFamily="2" charset="-78"/>
              </a:rPr>
              <a:t>داده</a:t>
            </a:r>
            <a:r>
              <a:rPr lang="en-US" b="1" dirty="0">
                <a:cs typeface="B Titr" panose="00000700000000000000" pitchFamily="2" charset="-78"/>
              </a:rPr>
              <a:t>» (Data Cleaning) </a:t>
            </a:r>
            <a:r>
              <a:rPr lang="en-US" b="1" dirty="0" err="1">
                <a:cs typeface="B Titr" panose="00000700000000000000" pitchFamily="2" charset="-78"/>
              </a:rPr>
              <a:t>مرحله‌ای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از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یادگیری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ماشین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است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که</a:t>
            </a:r>
            <a:r>
              <a:rPr lang="en-US" b="1" dirty="0">
                <a:cs typeface="B Titr" panose="00000700000000000000" pitchFamily="2" charset="-78"/>
              </a:rPr>
              <a:t> در </a:t>
            </a:r>
            <a:r>
              <a:rPr lang="en-US" b="1" dirty="0" err="1">
                <a:cs typeface="B Titr" panose="00000700000000000000" pitchFamily="2" charset="-78"/>
              </a:rPr>
              <a:t>آن</a:t>
            </a:r>
            <a:r>
              <a:rPr lang="en-US" b="1" dirty="0">
                <a:cs typeface="B Titr" panose="00000700000000000000" pitchFamily="2" charset="-78"/>
              </a:rPr>
              <a:t>، </a:t>
            </a:r>
            <a:r>
              <a:rPr lang="en-US" b="1" dirty="0" err="1">
                <a:cs typeface="B Titr" panose="00000700000000000000" pitchFamily="2" charset="-78"/>
              </a:rPr>
              <a:t>داده‌ها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شناسایی</a:t>
            </a:r>
            <a:r>
              <a:rPr lang="en-US" b="1" dirty="0">
                <a:cs typeface="B Titr" panose="00000700000000000000" pitchFamily="2" charset="-78"/>
              </a:rPr>
              <a:t> و </a:t>
            </a:r>
            <a:r>
              <a:rPr lang="en-US" b="1" dirty="0" err="1">
                <a:cs typeface="B Titr" panose="00000700000000000000" pitchFamily="2" charset="-78"/>
              </a:rPr>
              <a:t>نمونه‌های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ناقص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یا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تکراری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حذف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می‌شوند</a:t>
            </a:r>
            <a:endParaRPr lang="fa-IR" b="1" dirty="0">
              <a:cs typeface="B Titr" panose="00000700000000000000" pitchFamily="2" charset="-78"/>
            </a:endParaRPr>
          </a:p>
          <a:p>
            <a:pPr algn="r" rtl="1"/>
            <a:endParaRPr lang="fa-IR" b="1" dirty="0">
              <a:cs typeface="B Titr" panose="00000700000000000000" pitchFamily="2" charset="-78"/>
            </a:endParaRPr>
          </a:p>
          <a:p>
            <a:pPr algn="r" rtl="1"/>
            <a:r>
              <a:rPr lang="fa-IR" dirty="0">
                <a:cs typeface="B Titr" panose="00000700000000000000" pitchFamily="2" charset="-78"/>
              </a:rPr>
              <a:t>پ</a:t>
            </a:r>
            <a:r>
              <a:rPr lang="en-US" dirty="0" err="1">
                <a:cs typeface="B Titr" panose="00000700000000000000" pitchFamily="2" charset="-78"/>
              </a:rPr>
              <a:t>اکسازی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داده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که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گاهی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با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عناوین</a:t>
            </a:r>
            <a:r>
              <a:rPr lang="en-US" dirty="0">
                <a:cs typeface="B Titr" panose="00000700000000000000" pitchFamily="2" charset="-78"/>
              </a:rPr>
              <a:t> «</a:t>
            </a:r>
            <a:r>
              <a:rPr lang="en-US" dirty="0" err="1">
                <a:cs typeface="B Titr" panose="00000700000000000000" pitchFamily="2" charset="-78"/>
              </a:rPr>
              <a:t>تمیزسازی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داده</a:t>
            </a:r>
            <a:r>
              <a:rPr lang="en-US" dirty="0">
                <a:cs typeface="B Titr" panose="00000700000000000000" pitchFamily="2" charset="-78"/>
              </a:rPr>
              <a:t>» (Data Cleansing) و «</a:t>
            </a:r>
            <a:r>
              <a:rPr lang="en-US" dirty="0" err="1">
                <a:cs typeface="B Titr" panose="00000700000000000000" pitchFamily="2" charset="-78"/>
              </a:rPr>
              <a:t>پالایش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داده</a:t>
            </a:r>
            <a:r>
              <a:rPr lang="en-US" dirty="0">
                <a:cs typeface="B Titr" panose="00000700000000000000" pitchFamily="2" charset="-78"/>
              </a:rPr>
              <a:t>» (Data Scrubbing) </a:t>
            </a:r>
            <a:r>
              <a:rPr lang="en-US" dirty="0" err="1">
                <a:cs typeface="B Titr" panose="00000700000000000000" pitchFamily="2" charset="-78"/>
              </a:rPr>
              <a:t>نیز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شناخته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می‌شود</a:t>
            </a:r>
            <a:r>
              <a:rPr lang="en-US" b="1" dirty="0">
                <a:cs typeface="B Titr" panose="00000700000000000000" pitchFamily="2" charset="-78"/>
              </a:rPr>
              <a:t>.</a:t>
            </a:r>
            <a:endParaRPr lang="en-US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51730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DDC8-2F00-7D3D-55A8-A70EA3EE2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ه</a:t>
            </a:r>
            <a:r>
              <a:rPr lang="en-US" dirty="0" err="1">
                <a:cs typeface="B Titr" panose="00000700000000000000" pitchFamily="2" charset="-78"/>
              </a:rPr>
              <a:t>نگام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کار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با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پروژه‌های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عملی</a:t>
            </a:r>
            <a:r>
              <a:rPr lang="en-US" dirty="0">
                <a:cs typeface="B Titr" panose="00000700000000000000" pitchFamily="2" charset="-78"/>
              </a:rPr>
              <a:t> در </a:t>
            </a:r>
            <a:r>
              <a:rPr lang="en-US" dirty="0" err="1">
                <a:cs typeface="B Titr" panose="00000700000000000000" pitchFamily="2" charset="-78"/>
              </a:rPr>
              <a:t>حوزه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علم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داده</a:t>
            </a:r>
            <a:r>
              <a:rPr lang="en-US" dirty="0">
                <a:cs typeface="B Titr" panose="00000700000000000000" pitchFamily="2" charset="-78"/>
              </a:rPr>
              <a:t> و </a:t>
            </a:r>
            <a:r>
              <a:rPr lang="en-US" dirty="0" err="1">
                <a:cs typeface="B Titr" panose="00000700000000000000" pitchFamily="2" charset="-78"/>
              </a:rPr>
              <a:t>یادگیری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ماشین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با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مشکلاتی</a:t>
            </a:r>
            <a:r>
              <a:rPr lang="en-US" dirty="0">
                <a:cs typeface="B Titr" panose="00000700000000000000" pitchFamily="2" charset="-78"/>
              </a:rPr>
              <a:t> در </a:t>
            </a:r>
            <a:r>
              <a:rPr lang="en-US" dirty="0" err="1">
                <a:cs typeface="B Titr" panose="00000700000000000000" pitchFamily="2" charset="-78"/>
              </a:rPr>
              <a:t>زمینه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کیفیت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داده‌ها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مواجه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می‌شوید</a:t>
            </a:r>
            <a:r>
              <a:rPr lang="en-US" dirty="0">
                <a:cs typeface="B Titr" panose="00000700000000000000" pitchFamily="2" charset="-78"/>
              </a:rPr>
              <a:t>. </a:t>
            </a:r>
            <a:r>
              <a:rPr lang="en-US" dirty="0" err="1">
                <a:cs typeface="B Titr" panose="00000700000000000000" pitchFamily="2" charset="-78"/>
              </a:rPr>
              <a:t>برخی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از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این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مشکلات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عبارت‌اند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از</a:t>
            </a:r>
            <a:r>
              <a:rPr lang="en-US" dirty="0">
                <a:cs typeface="B Titr" panose="00000700000000000000" pitchFamily="2" charset="-78"/>
              </a:rPr>
              <a:t>:</a:t>
            </a:r>
            <a:endParaRPr lang="fa-IR" dirty="0">
              <a:cs typeface="B Titr" panose="00000700000000000000" pitchFamily="2" charset="-78"/>
            </a:endParaRPr>
          </a:p>
          <a:p>
            <a:pPr lvl="0" algn="r" rtl="1"/>
            <a:r>
              <a:rPr lang="en-US" dirty="0" err="1">
                <a:cs typeface="B Titr" panose="00000700000000000000" pitchFamily="2" charset="-78"/>
                <a:hlinkClick r:id="rId2"/>
              </a:rPr>
              <a:t>داده‌های</a:t>
            </a:r>
            <a:r>
              <a:rPr lang="en-US" dirty="0">
                <a:cs typeface="B Titr" panose="00000700000000000000" pitchFamily="2" charset="-78"/>
                <a:hlinkClick r:id="rId2"/>
              </a:rPr>
              <a:t> </a:t>
            </a:r>
            <a:r>
              <a:rPr lang="en-US" dirty="0" err="1">
                <a:cs typeface="B Titr" panose="00000700000000000000" pitchFamily="2" charset="-78"/>
                <a:hlinkClick r:id="rId2"/>
              </a:rPr>
              <a:t>گمشده</a:t>
            </a:r>
            <a:r>
              <a:rPr lang="en-US" dirty="0">
                <a:cs typeface="B Titr" panose="00000700000000000000" pitchFamily="2" charset="-78"/>
              </a:rPr>
              <a:t> (Missing Data)</a:t>
            </a:r>
          </a:p>
          <a:p>
            <a:pPr lvl="0" algn="r" rtl="1"/>
            <a:r>
              <a:rPr lang="en-US" dirty="0" err="1">
                <a:cs typeface="B Titr" panose="00000700000000000000" pitchFamily="2" charset="-78"/>
              </a:rPr>
              <a:t>داده‌های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تکراری</a:t>
            </a:r>
            <a:r>
              <a:rPr lang="en-US" dirty="0">
                <a:cs typeface="B Titr" panose="00000700000000000000" pitchFamily="2" charset="-78"/>
              </a:rPr>
              <a:t> (Duplicate Data)</a:t>
            </a:r>
          </a:p>
          <a:p>
            <a:pPr lvl="0" algn="r" rtl="1"/>
            <a:r>
              <a:rPr lang="en-US" dirty="0" err="1">
                <a:cs typeface="B Titr" panose="00000700000000000000" pitchFamily="2" charset="-78"/>
                <a:hlinkClick r:id="rId3"/>
              </a:rPr>
              <a:t>داده‌های</a:t>
            </a:r>
            <a:r>
              <a:rPr lang="en-US" dirty="0">
                <a:cs typeface="B Titr" panose="00000700000000000000" pitchFamily="2" charset="-78"/>
                <a:hlinkClick r:id="rId3"/>
              </a:rPr>
              <a:t> </a:t>
            </a:r>
            <a:r>
              <a:rPr lang="en-US" dirty="0" err="1">
                <a:cs typeface="B Titr" panose="00000700000000000000" pitchFamily="2" charset="-78"/>
                <a:hlinkClick r:id="rId3"/>
              </a:rPr>
              <a:t>پرت</a:t>
            </a:r>
            <a:r>
              <a:rPr lang="en-US" dirty="0">
                <a:cs typeface="B Titr" panose="00000700000000000000" pitchFamily="2" charset="-78"/>
              </a:rPr>
              <a:t> (Outliers)</a:t>
            </a:r>
          </a:p>
          <a:p>
            <a:pPr lvl="0" algn="r" rtl="1"/>
            <a:r>
              <a:rPr lang="en-US" dirty="0" err="1">
                <a:cs typeface="B Titr" panose="00000700000000000000" pitchFamily="2" charset="-78"/>
              </a:rPr>
              <a:t>داده‌های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پر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اشتباه</a:t>
            </a:r>
            <a:r>
              <a:rPr lang="en-US" dirty="0">
                <a:cs typeface="B Titr" panose="00000700000000000000" pitchFamily="2" charset="-78"/>
              </a:rPr>
              <a:t> (Erroneous Data)</a:t>
            </a:r>
          </a:p>
          <a:p>
            <a:pPr lvl="0" algn="r" rtl="1"/>
            <a:r>
              <a:rPr lang="en-US" dirty="0" err="1">
                <a:cs typeface="B Titr" panose="00000700000000000000" pitchFamily="2" charset="-78"/>
              </a:rPr>
              <a:t>داده‌های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نامرتبط</a:t>
            </a:r>
            <a:r>
              <a:rPr lang="en-US" dirty="0">
                <a:cs typeface="B Titr" panose="00000700000000000000" pitchFamily="2" charset="-78"/>
              </a:rPr>
              <a:t> (Irrelevant Data)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88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6E4AE-3810-9BEE-EE82-3F8F9CAF4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 b="1" dirty="0" err="1">
                <a:cs typeface="B Titr" panose="00000700000000000000" pitchFamily="2" charset="-78"/>
              </a:rPr>
              <a:t>تفاوت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تمیزسازی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داده</a:t>
            </a:r>
            <a:r>
              <a:rPr lang="en-US" b="1" dirty="0">
                <a:cs typeface="B Titr" panose="00000700000000000000" pitchFamily="2" charset="-78"/>
              </a:rPr>
              <a:t>، </a:t>
            </a:r>
            <a:r>
              <a:rPr lang="en-US" b="1" dirty="0" err="1">
                <a:cs typeface="B Titr" panose="00000700000000000000" pitchFamily="2" charset="-78"/>
              </a:rPr>
              <a:t>پالایش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داده</a:t>
            </a:r>
            <a:r>
              <a:rPr lang="en-US" b="1" dirty="0">
                <a:cs typeface="B Titr" panose="00000700000000000000" pitchFamily="2" charset="-78"/>
              </a:rPr>
              <a:t> و پاکسازی </a:t>
            </a:r>
            <a:r>
              <a:rPr lang="en-US" b="1" dirty="0" err="1">
                <a:cs typeface="B Titr" panose="00000700000000000000" pitchFamily="2" charset="-78"/>
              </a:rPr>
              <a:t>داده</a:t>
            </a:r>
            <a:br>
              <a:rPr lang="en-US" b="1" dirty="0">
                <a:cs typeface="B Titr" panose="00000700000000000000" pitchFamily="2" charset="-78"/>
              </a:rPr>
            </a:b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2CB48-7E66-0C55-3B17-36A09199E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>
                <a:cs typeface="B Titr" panose="00000700000000000000" pitchFamily="2" charset="-78"/>
              </a:rPr>
              <a:t>پاکسازی </a:t>
            </a:r>
            <a:r>
              <a:rPr lang="en-US" dirty="0" err="1">
                <a:cs typeface="B Titr" panose="00000700000000000000" pitchFamily="2" charset="-78"/>
              </a:rPr>
              <a:t>داده</a:t>
            </a:r>
            <a:r>
              <a:rPr lang="en-US" dirty="0">
                <a:cs typeface="B Titr" panose="00000700000000000000" pitchFamily="2" charset="-78"/>
              </a:rPr>
              <a:t>، </a:t>
            </a:r>
            <a:r>
              <a:rPr lang="en-US" dirty="0" err="1">
                <a:cs typeface="B Titr" panose="00000700000000000000" pitchFamily="2" charset="-78"/>
              </a:rPr>
              <a:t>تمیزسازی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داده</a:t>
            </a:r>
            <a:r>
              <a:rPr lang="en-US" dirty="0">
                <a:cs typeface="B Titr" panose="00000700000000000000" pitchFamily="2" charset="-78"/>
              </a:rPr>
              <a:t> و </a:t>
            </a:r>
            <a:r>
              <a:rPr lang="en-US" dirty="0" err="1">
                <a:cs typeface="B Titr" panose="00000700000000000000" pitchFamily="2" charset="-78"/>
              </a:rPr>
              <a:t>پالایش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داده</a:t>
            </a:r>
            <a:r>
              <a:rPr lang="en-US" dirty="0">
                <a:cs typeface="B Titr" panose="00000700000000000000" pitchFamily="2" charset="-78"/>
              </a:rPr>
              <a:t>، </a:t>
            </a:r>
            <a:r>
              <a:rPr lang="en-US" dirty="0" err="1">
                <a:cs typeface="B Titr" panose="00000700000000000000" pitchFamily="2" charset="-78"/>
              </a:rPr>
              <a:t>اغلب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عباراتی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هستند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که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به‌جای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یک‌دیگر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استفاده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می‌شوند</a:t>
            </a:r>
            <a:r>
              <a:rPr lang="en-US" dirty="0">
                <a:cs typeface="B Titr" panose="00000700000000000000" pitchFamily="2" charset="-78"/>
              </a:rPr>
              <a:t>. </a:t>
            </a:r>
            <a:r>
              <a:rPr lang="en-US" dirty="0" err="1">
                <a:cs typeface="B Titr" panose="00000700000000000000" pitchFamily="2" charset="-78"/>
              </a:rPr>
              <a:t>اگرچه</a:t>
            </a:r>
            <a:r>
              <a:rPr lang="en-US" dirty="0">
                <a:cs typeface="B Titr" panose="00000700000000000000" pitchFamily="2" charset="-78"/>
              </a:rPr>
              <a:t> در </a:t>
            </a:r>
            <a:r>
              <a:rPr lang="en-US" dirty="0" err="1">
                <a:cs typeface="B Titr" panose="00000700000000000000" pitchFamily="2" charset="-78"/>
              </a:rPr>
              <a:t>بیشتر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اوقات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منظور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یکسانی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از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هر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سه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عبارت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برداشت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می‌شود</a:t>
            </a:r>
            <a:r>
              <a:rPr lang="en-US" dirty="0">
                <a:cs typeface="B Titr" panose="00000700000000000000" pitchFamily="2" charset="-78"/>
              </a:rPr>
              <a:t>. </a:t>
            </a:r>
            <a:r>
              <a:rPr lang="en-US" dirty="0" err="1">
                <a:cs typeface="B Titr" panose="00000700000000000000" pitchFamily="2" charset="-78"/>
              </a:rPr>
              <a:t>اما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گاهی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نیز</a:t>
            </a:r>
            <a:r>
              <a:rPr lang="en-US" dirty="0">
                <a:cs typeface="B Titr" panose="00000700000000000000" pitchFamily="2" charset="-78"/>
              </a:rPr>
              <a:t>، </a:t>
            </a:r>
            <a:r>
              <a:rPr lang="en-US" dirty="0" err="1">
                <a:cs typeface="B Titr" panose="00000700000000000000" pitchFamily="2" charset="-78"/>
              </a:rPr>
              <a:t>پالایش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داده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تنها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قسمتی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از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فرایند</a:t>
            </a:r>
            <a:r>
              <a:rPr lang="en-US" dirty="0">
                <a:cs typeface="B Titr" panose="00000700000000000000" pitchFamily="2" charset="-78"/>
              </a:rPr>
              <a:t> پاکسازی </a:t>
            </a:r>
            <a:r>
              <a:rPr lang="en-US" dirty="0" err="1">
                <a:cs typeface="B Titr" panose="00000700000000000000" pitchFamily="2" charset="-78"/>
              </a:rPr>
              <a:t>داده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است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که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وظیفه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حذف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داده‌های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قدیمی</a:t>
            </a:r>
            <a:r>
              <a:rPr lang="en-US" dirty="0">
                <a:cs typeface="B Titr" panose="00000700000000000000" pitchFamily="2" charset="-78"/>
              </a:rPr>
              <a:t>، </a:t>
            </a:r>
            <a:r>
              <a:rPr lang="en-US" dirty="0" err="1">
                <a:cs typeface="B Titr" panose="00000700000000000000" pitchFamily="2" charset="-78"/>
              </a:rPr>
              <a:t>غیر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ضروری</a:t>
            </a:r>
            <a:r>
              <a:rPr lang="en-US" dirty="0">
                <a:cs typeface="B Titr" panose="00000700000000000000" pitchFamily="2" charset="-78"/>
              </a:rPr>
              <a:t> و </a:t>
            </a:r>
            <a:r>
              <a:rPr lang="en-US" dirty="0" err="1">
                <a:cs typeface="B Titr" panose="00000700000000000000" pitchFamily="2" charset="-78"/>
              </a:rPr>
              <a:t>تکراری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را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از</a:t>
            </a:r>
            <a:r>
              <a:rPr lang="en-US" dirty="0">
                <a:cs typeface="B Titr" panose="00000700000000000000" pitchFamily="2" charset="-78"/>
              </a:rPr>
              <a:t> «</a:t>
            </a:r>
            <a:r>
              <a:rPr lang="en-US" dirty="0" err="1">
                <a:cs typeface="B Titr" panose="00000700000000000000" pitchFamily="2" charset="-78"/>
                <a:hlinkClick r:id="rId2"/>
              </a:rPr>
              <a:t>مجموعه‌داده</a:t>
            </a:r>
            <a:r>
              <a:rPr lang="en-US" dirty="0">
                <a:cs typeface="B Titr" panose="00000700000000000000" pitchFamily="2" charset="-78"/>
              </a:rPr>
              <a:t>» (Dataset) </a:t>
            </a:r>
            <a:r>
              <a:rPr lang="en-US" dirty="0" err="1">
                <a:cs typeface="B Titr" panose="00000700000000000000" pitchFamily="2" charset="-78"/>
              </a:rPr>
              <a:t>بر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عهده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dirty="0" err="1">
                <a:cs typeface="B Titr" panose="00000700000000000000" pitchFamily="2" charset="-78"/>
              </a:rPr>
              <a:t>دارد</a:t>
            </a:r>
            <a:r>
              <a:rPr lang="en-US" dirty="0">
                <a:cs typeface="B Titr" panose="00000700000000000000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124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3ACF-82F1-2B25-1AA8-F09C6C6E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7130"/>
          </a:xfrm>
        </p:spPr>
        <p:txBody>
          <a:bodyPr>
            <a:normAutofit/>
          </a:bodyPr>
          <a:lstStyle/>
          <a:p>
            <a:pPr algn="r" rtl="1"/>
            <a:r>
              <a:rPr lang="en-US" sz="4800" dirty="0" err="1">
                <a:cs typeface="B Titr" panose="00000700000000000000" pitchFamily="2" charset="-78"/>
              </a:rPr>
              <a:t>مراحل</a:t>
            </a:r>
            <a:r>
              <a:rPr lang="en-US" sz="4800" dirty="0">
                <a:cs typeface="B Titr" panose="00000700000000000000" pitchFamily="2" charset="-78"/>
              </a:rPr>
              <a:t> </a:t>
            </a:r>
            <a:r>
              <a:rPr lang="en-US" sz="4800" dirty="0" err="1">
                <a:cs typeface="B Titr" panose="00000700000000000000" pitchFamily="2" charset="-78"/>
              </a:rPr>
              <a:t>اصلی</a:t>
            </a:r>
            <a:r>
              <a:rPr lang="en-US" sz="4800" dirty="0">
                <a:cs typeface="B Titr" panose="00000700000000000000" pitchFamily="2" charset="-78"/>
              </a:rPr>
              <a:t> پاکسازی </a:t>
            </a:r>
            <a:r>
              <a:rPr lang="en-US" sz="4800" dirty="0" err="1">
                <a:cs typeface="B Titr" panose="00000700000000000000" pitchFamily="2" charset="-78"/>
              </a:rPr>
              <a:t>داده</a:t>
            </a:r>
            <a:endParaRPr lang="en-US" sz="4800" dirty="0"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2C261-6649-2627-9C65-B8A8750CB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7130"/>
            <a:ext cx="10515600" cy="6040869"/>
          </a:xfrm>
        </p:spPr>
        <p:txBody>
          <a:bodyPr>
            <a:normAutofit fontScale="92500" lnSpcReduction="10000"/>
          </a:bodyPr>
          <a:lstStyle/>
          <a:p>
            <a:pPr lvl="0" algn="r" rtl="1"/>
            <a:r>
              <a:rPr lang="en-US" b="1" dirty="0" err="1">
                <a:cs typeface="B Titr" panose="00000700000000000000" pitchFamily="2" charset="-78"/>
              </a:rPr>
              <a:t>حذف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نمونه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داده‌های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نامرتبط</a:t>
            </a:r>
            <a:r>
              <a:rPr lang="en-US" b="1" dirty="0">
                <a:cs typeface="B Titr" panose="00000700000000000000" pitchFamily="2" charset="-78"/>
              </a:rPr>
              <a:t>:</a:t>
            </a:r>
            <a:r>
              <a:rPr lang="en-US" dirty="0">
                <a:cs typeface="B Titr" panose="00000700000000000000" pitchFamily="2" charset="-78"/>
              </a:rPr>
              <a:t> </a:t>
            </a:r>
            <a:endParaRPr lang="fa-IR" dirty="0">
              <a:cs typeface="B Titr" panose="00000700000000000000" pitchFamily="2" charset="-78"/>
            </a:endParaRPr>
          </a:p>
          <a:p>
            <a:pPr lvl="0" algn="r" rtl="1"/>
            <a:r>
              <a:rPr lang="en-US" dirty="0">
                <a:cs typeface="B Mitra" panose="00000400000000000000" pitchFamily="2" charset="-78"/>
              </a:rPr>
              <a:t>در </a:t>
            </a:r>
            <a:r>
              <a:rPr lang="en-US" dirty="0" err="1">
                <a:cs typeface="B Mitra" panose="00000400000000000000" pitchFamily="2" charset="-78"/>
              </a:rPr>
              <a:t>این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مرحله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از</a:t>
            </a:r>
            <a:r>
              <a:rPr lang="en-US" dirty="0">
                <a:cs typeface="B Mitra" panose="00000400000000000000" pitchFamily="2" charset="-78"/>
              </a:rPr>
              <a:t> پاکسازی </a:t>
            </a:r>
            <a:r>
              <a:rPr lang="en-US" dirty="0" err="1">
                <a:cs typeface="B Mitra" panose="00000400000000000000" pitchFamily="2" charset="-78"/>
              </a:rPr>
              <a:t>داده</a:t>
            </a:r>
            <a:r>
              <a:rPr lang="en-US" dirty="0">
                <a:cs typeface="B Mitra" panose="00000400000000000000" pitchFamily="2" charset="-78"/>
              </a:rPr>
              <a:t>، </a:t>
            </a:r>
            <a:r>
              <a:rPr lang="en-US" dirty="0" err="1">
                <a:cs typeface="B Mitra" panose="00000400000000000000" pitchFamily="2" charset="-78"/>
              </a:rPr>
              <a:t>ابتدا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هر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کدام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از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نمونه‌ها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بررسی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شده</a:t>
            </a:r>
            <a:r>
              <a:rPr lang="en-US" dirty="0">
                <a:cs typeface="B Mitra" panose="00000400000000000000" pitchFamily="2" charset="-78"/>
              </a:rPr>
              <a:t> و </a:t>
            </a:r>
            <a:r>
              <a:rPr lang="en-US" dirty="0" err="1">
                <a:cs typeface="B Mitra" panose="00000400000000000000" pitchFamily="2" charset="-78"/>
              </a:rPr>
              <a:t>سپس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داده‌های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اضافی</a:t>
            </a:r>
            <a:r>
              <a:rPr lang="en-US" dirty="0">
                <a:cs typeface="B Mitra" panose="00000400000000000000" pitchFamily="2" charset="-78"/>
              </a:rPr>
              <a:t>، </a:t>
            </a:r>
            <a:r>
              <a:rPr lang="en-US" dirty="0" err="1">
                <a:cs typeface="B Mitra" panose="00000400000000000000" pitchFamily="2" charset="-78"/>
              </a:rPr>
              <a:t>اطلاعات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تکراری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یا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نقاط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داده‌ای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که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مشارکتی</a:t>
            </a:r>
            <a:r>
              <a:rPr lang="en-US" dirty="0">
                <a:cs typeface="B Mitra" panose="00000400000000000000" pitchFamily="2" charset="-78"/>
              </a:rPr>
              <a:t> در </a:t>
            </a:r>
            <a:r>
              <a:rPr lang="en-US" dirty="0" err="1">
                <a:cs typeface="B Mitra" panose="00000400000000000000" pitchFamily="2" charset="-78"/>
              </a:rPr>
              <a:t>فرایند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تجزیه</a:t>
            </a:r>
            <a:r>
              <a:rPr lang="en-US" dirty="0">
                <a:cs typeface="B Mitra" panose="00000400000000000000" pitchFamily="2" charset="-78"/>
              </a:rPr>
              <a:t> و </a:t>
            </a:r>
            <a:r>
              <a:rPr lang="en-US" dirty="0" err="1">
                <a:cs typeface="B Mitra" panose="00000400000000000000" pitchFamily="2" charset="-78"/>
              </a:rPr>
              <a:t>تحلیل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ندارند</a:t>
            </a:r>
            <a:r>
              <a:rPr lang="en-US" dirty="0">
                <a:cs typeface="B Mitra" panose="00000400000000000000" pitchFamily="2" charset="-78"/>
              </a:rPr>
              <a:t>، </a:t>
            </a:r>
            <a:r>
              <a:rPr lang="en-US" dirty="0" err="1">
                <a:cs typeface="B Mitra" panose="00000400000000000000" pitchFamily="2" charset="-78"/>
              </a:rPr>
              <a:t>حذف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می‌شوند</a:t>
            </a:r>
            <a:endParaRPr lang="fa-IR" dirty="0">
              <a:cs typeface="B Mitra" panose="00000400000000000000" pitchFamily="2" charset="-78"/>
            </a:endParaRPr>
          </a:p>
          <a:p>
            <a:pPr lvl="0" algn="r" rtl="1"/>
            <a:r>
              <a:rPr lang="en-US" b="1" dirty="0" err="1">
                <a:cs typeface="B Titr" panose="00000700000000000000" pitchFamily="2" charset="-78"/>
              </a:rPr>
              <a:t>رفع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خطاهای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ساختاری</a:t>
            </a:r>
            <a:r>
              <a:rPr lang="en-US" b="1" dirty="0">
                <a:cs typeface="B Titr" panose="00000700000000000000" pitchFamily="2" charset="-78"/>
              </a:rPr>
              <a:t>:</a:t>
            </a:r>
            <a:r>
              <a:rPr lang="en-US" dirty="0">
                <a:cs typeface="B Titr" panose="00000700000000000000" pitchFamily="2" charset="-78"/>
              </a:rPr>
              <a:t> </a:t>
            </a:r>
            <a:endParaRPr lang="fa-IR" dirty="0">
              <a:cs typeface="B Titr" panose="00000700000000000000" pitchFamily="2" charset="-78"/>
            </a:endParaRPr>
          </a:p>
          <a:p>
            <a:pPr lvl="0" algn="r" rtl="1"/>
            <a:r>
              <a:rPr lang="en-US" dirty="0" err="1">
                <a:cs typeface="B Mitra" panose="00000400000000000000" pitchFamily="2" charset="-78"/>
              </a:rPr>
              <a:t>منظور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از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خطاهای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ساختاری</a:t>
            </a:r>
            <a:r>
              <a:rPr lang="en-US" dirty="0">
                <a:cs typeface="B Mitra" panose="00000400000000000000" pitchFamily="2" charset="-78"/>
              </a:rPr>
              <a:t>، </a:t>
            </a:r>
            <a:r>
              <a:rPr lang="en-US" dirty="0" err="1">
                <a:cs typeface="B Mitra" panose="00000400000000000000" pitchFamily="2" charset="-78"/>
              </a:rPr>
              <a:t>مواردی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از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جمله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ناهماهنگی</a:t>
            </a:r>
            <a:r>
              <a:rPr lang="en-US" dirty="0">
                <a:cs typeface="B Mitra" panose="00000400000000000000" pitchFamily="2" charset="-78"/>
              </a:rPr>
              <a:t> در </a:t>
            </a:r>
            <a:r>
              <a:rPr lang="en-US" dirty="0" err="1">
                <a:cs typeface="B Mitra" panose="00000400000000000000" pitchFamily="2" charset="-78"/>
              </a:rPr>
              <a:t>فرمت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داده‌ها</a:t>
            </a:r>
            <a:r>
              <a:rPr lang="en-US" dirty="0">
                <a:cs typeface="B Mitra" panose="00000400000000000000" pitchFamily="2" charset="-78"/>
              </a:rPr>
              <a:t> و </a:t>
            </a:r>
            <a:r>
              <a:rPr lang="en-US" dirty="0" err="1">
                <a:cs typeface="B Mitra" panose="00000400000000000000" pitchFamily="2" charset="-78"/>
              </a:rPr>
              <a:t>عدم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وجود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قواعدی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یکپارچه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برای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نام‌گذاری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متغیرها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است</a:t>
            </a:r>
            <a:r>
              <a:rPr lang="en-US" dirty="0">
                <a:cs typeface="B Mitra" panose="00000400000000000000" pitchFamily="2" charset="-78"/>
              </a:rPr>
              <a:t>. </a:t>
            </a:r>
            <a:endParaRPr lang="fa-IR" dirty="0">
              <a:cs typeface="B Mitra" panose="00000400000000000000" pitchFamily="2" charset="-78"/>
            </a:endParaRPr>
          </a:p>
          <a:p>
            <a:pPr lvl="0" algn="r" rtl="1"/>
            <a:r>
              <a:rPr lang="en-US" b="1" dirty="0" err="1">
                <a:cs typeface="B Titr" panose="00000700000000000000" pitchFamily="2" charset="-78"/>
              </a:rPr>
              <a:t>مدیریت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داده‌های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پر</a:t>
            </a:r>
            <a:r>
              <a:rPr lang="fa-IR" b="1" dirty="0">
                <a:cs typeface="B Titr" panose="00000700000000000000" pitchFamily="2" charset="-78"/>
              </a:rPr>
              <a:t>ت:</a:t>
            </a:r>
          </a:p>
          <a:p>
            <a:pPr lvl="0" algn="r" rtl="1"/>
            <a:r>
              <a:rPr lang="en-US" dirty="0">
                <a:cs typeface="B Mitra" panose="00000400000000000000" pitchFamily="2" charset="-78"/>
              </a:rPr>
              <a:t> </a:t>
            </a:r>
            <a:r>
              <a:rPr lang="en-US" dirty="0" err="1">
                <a:cs typeface="B Mitra" panose="00000400000000000000" pitchFamily="2" charset="-78"/>
              </a:rPr>
              <a:t>وظیفه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این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مرحله</a:t>
            </a:r>
            <a:r>
              <a:rPr lang="en-US" dirty="0">
                <a:cs typeface="B Mitra" panose="00000400000000000000" pitchFamily="2" charset="-78"/>
              </a:rPr>
              <a:t> در </a:t>
            </a:r>
            <a:r>
              <a:rPr lang="en-US" dirty="0" err="1">
                <a:cs typeface="B Mitra" panose="00000400000000000000" pitchFamily="2" charset="-78"/>
              </a:rPr>
              <a:t>شناسایی</a:t>
            </a:r>
            <a:r>
              <a:rPr lang="en-US" dirty="0">
                <a:cs typeface="B Mitra" panose="00000400000000000000" pitchFamily="2" charset="-78"/>
              </a:rPr>
              <a:t> و </a:t>
            </a:r>
            <a:r>
              <a:rPr lang="en-US" dirty="0" err="1">
                <a:cs typeface="B Mitra" panose="00000400000000000000" pitchFamily="2" charset="-78"/>
              </a:rPr>
              <a:t>مدیریت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نقاط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داده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پرت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یا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همان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نمونه‌های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متفاوت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از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  <a:hlinkClick r:id="rId2"/>
              </a:rPr>
              <a:t>نرم</a:t>
            </a:r>
            <a:r>
              <a:rPr lang="fa-IR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خلاصه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می‌شود</a:t>
            </a:r>
            <a:r>
              <a:rPr lang="en-US" dirty="0">
                <a:cs typeface="B Mitra" panose="00000400000000000000" pitchFamily="2" charset="-78"/>
              </a:rPr>
              <a:t>. </a:t>
            </a:r>
            <a:r>
              <a:rPr lang="en-US" dirty="0" err="1">
                <a:cs typeface="B Mitra" panose="00000400000000000000" pitchFamily="2" charset="-78"/>
              </a:rPr>
              <a:t>بسته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به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نوع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مسئله</a:t>
            </a:r>
            <a:r>
              <a:rPr lang="en-US" dirty="0">
                <a:cs typeface="B Mitra" panose="00000400000000000000" pitchFamily="2" charset="-78"/>
              </a:rPr>
              <a:t>، </a:t>
            </a:r>
            <a:r>
              <a:rPr lang="en-US" dirty="0" err="1">
                <a:cs typeface="B Mitra" panose="00000400000000000000" pitchFamily="2" charset="-78"/>
              </a:rPr>
              <a:t>گاهی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داده‌های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پرت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به‌طور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کلی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حذف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شده</a:t>
            </a:r>
            <a:r>
              <a:rPr lang="en-US" dirty="0">
                <a:cs typeface="B Mitra" panose="00000400000000000000" pitchFamily="2" charset="-78"/>
              </a:rPr>
              <a:t> و در </a:t>
            </a:r>
            <a:r>
              <a:rPr lang="en-US" dirty="0" err="1">
                <a:cs typeface="B Mitra" panose="00000400000000000000" pitchFamily="2" charset="-78"/>
              </a:rPr>
              <a:t>سایر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مواقع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به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نوعی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قابل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استفاده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تبدیل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می‌شوند</a:t>
            </a:r>
            <a:r>
              <a:rPr lang="en-US" dirty="0">
                <a:cs typeface="B Mitra" panose="00000400000000000000" pitchFamily="2" charset="-78"/>
              </a:rPr>
              <a:t>. </a:t>
            </a:r>
            <a:r>
              <a:rPr lang="en-US" dirty="0" err="1">
                <a:cs typeface="B Mitra" panose="00000400000000000000" pitchFamily="2" charset="-78"/>
              </a:rPr>
              <a:t>مدیریت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داده‌های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پرت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نقش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مهمی</a:t>
            </a:r>
            <a:r>
              <a:rPr lang="en-US" dirty="0">
                <a:cs typeface="B Mitra" panose="00000400000000000000" pitchFamily="2" charset="-78"/>
              </a:rPr>
              <a:t> در </a:t>
            </a:r>
            <a:r>
              <a:rPr lang="en-US" dirty="0" err="1">
                <a:cs typeface="B Mitra" panose="00000400000000000000" pitchFamily="2" charset="-78"/>
              </a:rPr>
              <a:t>کیفیت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اطلاعات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حاصل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از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پردازش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داده‌ها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دارد</a:t>
            </a:r>
            <a:r>
              <a:rPr lang="en-US" dirty="0">
                <a:cs typeface="B Mitra" panose="00000400000000000000" pitchFamily="2" charset="-78"/>
              </a:rPr>
              <a:t>.</a:t>
            </a:r>
          </a:p>
          <a:p>
            <a:pPr lvl="0" algn="r" rtl="1"/>
            <a:r>
              <a:rPr lang="en-US" b="1" dirty="0" err="1">
                <a:cs typeface="B Titr" panose="00000700000000000000" pitchFamily="2" charset="-78"/>
              </a:rPr>
              <a:t>مدیریت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داده‌های</a:t>
            </a:r>
            <a:r>
              <a:rPr lang="en-US" b="1" dirty="0">
                <a:cs typeface="B Titr" panose="00000700000000000000" pitchFamily="2" charset="-78"/>
              </a:rPr>
              <a:t> </a:t>
            </a:r>
            <a:r>
              <a:rPr lang="en-US" b="1" dirty="0" err="1">
                <a:cs typeface="B Titr" panose="00000700000000000000" pitchFamily="2" charset="-78"/>
              </a:rPr>
              <a:t>گمشده</a:t>
            </a:r>
            <a:r>
              <a:rPr lang="en-US" b="1" dirty="0">
                <a:cs typeface="B Titr" panose="00000700000000000000" pitchFamily="2" charset="-78"/>
              </a:rPr>
              <a:t>:</a:t>
            </a:r>
            <a:r>
              <a:rPr lang="en-US" dirty="0">
                <a:cs typeface="B Titr" panose="00000700000000000000" pitchFamily="2" charset="-78"/>
              </a:rPr>
              <a:t> </a:t>
            </a:r>
            <a:endParaRPr lang="fa-IR" dirty="0">
              <a:cs typeface="B Titr" panose="00000700000000000000" pitchFamily="2" charset="-78"/>
            </a:endParaRPr>
          </a:p>
          <a:p>
            <a:pPr lvl="0" algn="r" rtl="1"/>
            <a:r>
              <a:rPr lang="en-US" dirty="0" err="1">
                <a:cs typeface="B Mitra" panose="00000400000000000000" pitchFamily="2" charset="-78"/>
              </a:rPr>
              <a:t>بررسی</a:t>
            </a:r>
            <a:r>
              <a:rPr lang="en-US" dirty="0">
                <a:cs typeface="B Mitra" panose="00000400000000000000" pitchFamily="2" charset="-78"/>
              </a:rPr>
              <a:t> و </a:t>
            </a:r>
            <a:r>
              <a:rPr lang="en-US" dirty="0" err="1">
                <a:cs typeface="B Mitra" panose="00000400000000000000" pitchFamily="2" charset="-78"/>
              </a:rPr>
              <a:t>مدیریت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داده‌های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گمشده</a:t>
            </a:r>
            <a:r>
              <a:rPr lang="en-US" dirty="0">
                <a:cs typeface="B Mitra" panose="00000400000000000000" pitchFamily="2" charset="-78"/>
              </a:rPr>
              <a:t>، </a:t>
            </a:r>
            <a:r>
              <a:rPr lang="en-US" dirty="0" err="1">
                <a:cs typeface="B Mitra" panose="00000400000000000000" pitchFamily="2" charset="-78"/>
              </a:rPr>
              <a:t>نیازمند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نوعی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راهکار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هدفمند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است</a:t>
            </a:r>
            <a:r>
              <a:rPr lang="en-US" dirty="0">
                <a:cs typeface="B Mitra" panose="00000400000000000000" pitchFamily="2" charset="-78"/>
              </a:rPr>
              <a:t>. </a:t>
            </a:r>
            <a:r>
              <a:rPr lang="en-US" dirty="0" err="1">
                <a:cs typeface="B Mitra" panose="00000400000000000000" pitchFamily="2" charset="-78"/>
              </a:rPr>
              <a:t>راهکارهایی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از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جمله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جایگزینی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fa-IR" dirty="0">
                <a:cs typeface="B Mitra" panose="00000400000000000000" pitchFamily="2" charset="-78"/>
              </a:rPr>
              <a:t>      </a:t>
            </a:r>
            <a:r>
              <a:rPr lang="en-US" dirty="0">
                <a:cs typeface="B Mitra" panose="00000400000000000000" pitchFamily="2" charset="-78"/>
              </a:rPr>
              <a:t>(Imputing) </a:t>
            </a:r>
            <a:r>
              <a:rPr lang="en-US" dirty="0" err="1">
                <a:cs typeface="B Mitra" panose="00000400000000000000" pitchFamily="2" charset="-78"/>
              </a:rPr>
              <a:t>بر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اساس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روش‌های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آماری</a:t>
            </a:r>
            <a:r>
              <a:rPr lang="en-US" dirty="0">
                <a:cs typeface="B Mitra" panose="00000400000000000000" pitchFamily="2" charset="-78"/>
              </a:rPr>
              <a:t> و </a:t>
            </a:r>
            <a:r>
              <a:rPr lang="en-US" dirty="0" err="1">
                <a:cs typeface="B Mitra" panose="00000400000000000000" pitchFamily="2" charset="-78"/>
              </a:rPr>
              <a:t>حذف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نمونه‌هایی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که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شامل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مقادیر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گمشده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هستند</a:t>
            </a:r>
            <a:r>
              <a:rPr lang="en-US" dirty="0">
                <a:cs typeface="B Mitra" panose="00000400000000000000" pitchFamily="2" charset="-78"/>
              </a:rPr>
              <a:t>. در </a:t>
            </a:r>
            <a:r>
              <a:rPr lang="en-US" dirty="0" err="1">
                <a:cs typeface="B Mitra" panose="00000400000000000000" pitchFamily="2" charset="-78"/>
              </a:rPr>
              <a:t>نتیجه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مدیریت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موثر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داده‌های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گمشده</a:t>
            </a:r>
            <a:r>
              <a:rPr lang="en-US" dirty="0">
                <a:cs typeface="B Mitra" panose="00000400000000000000" pitchFamily="2" charset="-78"/>
              </a:rPr>
              <a:t>، </a:t>
            </a:r>
            <a:r>
              <a:rPr lang="en-US" dirty="0" err="1">
                <a:cs typeface="B Mitra" panose="00000400000000000000" pitchFamily="2" charset="-78"/>
              </a:rPr>
              <a:t>به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مجموعه‌داده‌ای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جامع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منجر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شده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که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از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احتمال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وجود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مشکلاتی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مانند</a:t>
            </a:r>
            <a:r>
              <a:rPr lang="en-US" dirty="0">
                <a:cs typeface="B Mitra" panose="00000400000000000000" pitchFamily="2" charset="-78"/>
              </a:rPr>
              <a:t> «</a:t>
            </a:r>
            <a:r>
              <a:rPr lang="en-US" dirty="0" err="1">
                <a:cs typeface="B Mitra" panose="00000400000000000000" pitchFamily="2" charset="-78"/>
                <a:hlinkClick r:id="rId3"/>
              </a:rPr>
              <a:t>بیش‌برازش</a:t>
            </a:r>
            <a:r>
              <a:rPr lang="en-US" dirty="0">
                <a:cs typeface="B Mitra" panose="00000400000000000000" pitchFamily="2" charset="-78"/>
              </a:rPr>
              <a:t>» (Overfitting) و «</a:t>
            </a:r>
            <a:r>
              <a:rPr lang="en-US" dirty="0" err="1">
                <a:cs typeface="B Mitra" panose="00000400000000000000" pitchFamily="2" charset="-78"/>
                <a:hlinkClick r:id="rId4"/>
              </a:rPr>
              <a:t>کم‌برازش</a:t>
            </a:r>
            <a:r>
              <a:rPr lang="en-US" dirty="0">
                <a:cs typeface="B Mitra" panose="00000400000000000000" pitchFamily="2" charset="-78"/>
              </a:rPr>
              <a:t>» (Underfitting) در </a:t>
            </a:r>
            <a:r>
              <a:rPr lang="en-US" dirty="0" err="1">
                <a:cs typeface="B Mitra" panose="00000400000000000000" pitchFamily="2" charset="-78"/>
              </a:rPr>
              <a:t>مدل‌های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یادگیری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ماشین</a:t>
            </a:r>
            <a:r>
              <a:rPr lang="en-US" dirty="0">
                <a:cs typeface="B Mitra" panose="00000400000000000000" pitchFamily="2" charset="-78"/>
              </a:rPr>
              <a:t> </a:t>
            </a:r>
            <a:r>
              <a:rPr lang="en-US" dirty="0" err="1">
                <a:cs typeface="B Mitra" panose="00000400000000000000" pitchFamily="2" charset="-78"/>
              </a:rPr>
              <a:t>می‌کاهد</a:t>
            </a:r>
            <a:r>
              <a:rPr lang="en-US" dirty="0">
                <a:cs typeface="B Titr" panose="00000700000000000000" pitchFamily="2" charset="-78"/>
              </a:rPr>
              <a:t>.</a:t>
            </a: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40695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0E9558-64AA-3EA1-F5C0-653D9675C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8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EBB0B3-81DA-1ADC-CA1C-42C421F16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82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407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 Mitra</vt:lpstr>
      <vt:lpstr>B Titr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پاکسازی داده چیست؟  </vt:lpstr>
      <vt:lpstr>PowerPoint Presentation</vt:lpstr>
      <vt:lpstr>تفاوت تمیزسازی داده، پالایش داده و پاکسازی داده </vt:lpstr>
      <vt:lpstr>مراحل اصلی پاکسازی داده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 ABBASZADEH</dc:creator>
  <cp:lastModifiedBy>MOSTAFA ABBASZADEH</cp:lastModifiedBy>
  <cp:revision>3</cp:revision>
  <dcterms:created xsi:type="dcterms:W3CDTF">2026-09-06T05:53:39Z</dcterms:created>
  <dcterms:modified xsi:type="dcterms:W3CDTF">2026-09-06T09:20:41Z</dcterms:modified>
</cp:coreProperties>
</file>